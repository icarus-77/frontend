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0292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502920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5455768" y="1371600"/>
            <a:ext cx="1280160" cy="12801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4990" y="1550822"/>
            <a:ext cx="921715" cy="9217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 Elements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188720" y="379476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quick-reference guide to writing meaningful, structured markup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pPr algn="ctr" indent="0" marL="0">
              <a:buNone/>
            </a:pPr>
            <a:r>
              <a:rPr lang="en-US" sz="1600" dirty="0">
                <a:solidFill>
                  <a:srgbClr val="9C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  </a:t>
            </a:r>
            <a:pPr algn="ctr" indent="0" marL="0">
              <a:buNone/>
            </a:pPr>
            <a:r>
              <a:rPr lang="en-US" sz="1600" dirty="0">
                <a:solidFill>
                  <a:srgbClr val="9C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pPr algn="ctr" indent="0" marL="0">
              <a:buNone/>
            </a:pPr>
            <a:r>
              <a:rPr lang="en-US" sz="1600" dirty="0">
                <a:solidFill>
                  <a:srgbClr val="9C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Markup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499284" cy="402336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86802" y="1920240"/>
            <a:ext cx="822960" cy="8229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016" y="203545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718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74720"/>
            <a:ext cx="20420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use semantic tags to describe page regions and navigate faster.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13684" y="1554480"/>
            <a:ext cx="2499284" cy="402336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846" y="1920240"/>
            <a:ext cx="822960" cy="8229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060" y="2035454"/>
            <a:ext cx="592531" cy="5925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6564" y="29718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42284" y="3474720"/>
            <a:ext cx="20420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weigh content inside meaningful tags more heavily than generic &lt;div&gt;s.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78728" y="1554480"/>
            <a:ext cx="2499284" cy="402336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16889" y="192024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104" y="2035454"/>
            <a:ext cx="592531" cy="5925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1608" y="29718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07328" y="3474720"/>
            <a:ext cx="20420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instantly understand page structure without extra class names.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143771" y="1554480"/>
            <a:ext cx="2499284" cy="402336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81933" y="1920240"/>
            <a:ext cx="822960" cy="822960"/>
          </a:xfrm>
          <a:prstGeom prst="ellipse">
            <a:avLst/>
          </a:prstGeom>
          <a:solidFill>
            <a:srgbClr val="FCA5A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148" y="2035454"/>
            <a:ext cx="592531" cy="5925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6651" y="29718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72371" y="3474720"/>
            <a:ext cx="20420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 makes CSS and JS targeting simpler and less fragile.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Tags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skeleton every page shares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6962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18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9842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section of a page or section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685800" cy="6858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7477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0358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 or menus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79933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21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0873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page's primary content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4850892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773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138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information for a page or section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949440" y="1600200"/>
            <a:ext cx="4663440" cy="4709160"/>
          </a:xfrm>
          <a:prstGeom prst="roundRect">
            <a:avLst>
              <a:gd name="adj" fmla="val 1569"/>
            </a:avLst>
          </a:prstGeom>
          <a:solidFill>
            <a:srgbClr val="27293D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78040" y="1828800"/>
            <a:ext cx="4206240" cy="640080"/>
          </a:xfrm>
          <a:prstGeom prst="roundRect">
            <a:avLst>
              <a:gd name="adj" fmla="val 7143"/>
            </a:avLst>
          </a:prstGeom>
          <a:solidFill>
            <a:srgbClr val="5EEAD4">
              <a:alpha val="85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78040" y="1828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78040" y="2606040"/>
            <a:ext cx="4206240" cy="457200"/>
          </a:xfrm>
          <a:prstGeom prst="roundRect">
            <a:avLst>
              <a:gd name="adj" fmla="val 10000"/>
            </a:avLst>
          </a:prstGeom>
          <a:solidFill>
            <a:srgbClr val="F9E795">
              <a:alpha val="75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717804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178040" y="320040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3E4159"/>
          </a:solidFill>
          <a:ln/>
        </p:spPr>
      </p:sp>
      <p:sp>
        <p:nvSpPr>
          <p:cNvPr id="26" name="Text 20"/>
          <p:cNvSpPr/>
          <p:nvPr/>
        </p:nvSpPr>
        <p:spPr>
          <a:xfrm>
            <a:off x="7178040" y="32004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178040" y="5623560"/>
            <a:ext cx="4206240" cy="457200"/>
          </a:xfrm>
          <a:prstGeom prst="roundRect">
            <a:avLst>
              <a:gd name="adj" fmla="val 10000"/>
            </a:avLst>
          </a:prstGeom>
          <a:solidFill>
            <a:srgbClr val="5EEAD4">
              <a:alpha val="6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17804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Grouping Tags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related content within the page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93338" cy="3931920"/>
          </a:xfrm>
          <a:prstGeom prst="roundRect">
            <a:avLst>
              <a:gd name="adj" fmla="val 3234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42389" y="2103120"/>
            <a:ext cx="1005840" cy="10058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207" y="2243938"/>
            <a:ext cx="724205" cy="7242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2753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content under a heading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99178" y="1691640"/>
            <a:ext cx="3393338" cy="3931920"/>
          </a:xfrm>
          <a:prstGeom prst="roundRect">
            <a:avLst>
              <a:gd name="adj" fmla="val 3234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2928" y="210312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745" y="2243938"/>
            <a:ext cx="724205" cy="7242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3498" y="3291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19218" y="3794760"/>
            <a:ext cx="2753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content (blog, news, product card)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49717" y="1691640"/>
            <a:ext cx="3393338" cy="3931920"/>
          </a:xfrm>
          <a:prstGeom prst="roundRect">
            <a:avLst>
              <a:gd name="adj" fmla="val 3234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3466" y="2103120"/>
            <a:ext cx="1005840" cy="10058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284" y="2243938"/>
            <a:ext cx="724205" cy="7242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4037" y="3291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69757" y="3794760"/>
            <a:ext cx="2753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or supplementary content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Interactive Tags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visuals and expandable content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27293D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97480" y="2011680"/>
            <a:ext cx="1005840" cy="10058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298" y="2152498"/>
            <a:ext cx="724205" cy="7242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3246120"/>
            <a:ext cx="4023360" cy="1828800"/>
          </a:xfrm>
          <a:prstGeom prst="rect">
            <a:avLst/>
          </a:prstGeom>
          <a:solidFill>
            <a:srgbClr val="3E4159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32461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content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5212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charts, diagrams, or code with optional captions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8872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&lt;figcaption&gt;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5669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describing a figure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27293D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43900" y="201168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718" y="2152498"/>
            <a:ext cx="724205" cy="72420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75120" y="324612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3E4159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3246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Click to expand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75120" y="3840480"/>
            <a:ext cx="4343400" cy="960120"/>
          </a:xfrm>
          <a:prstGeom prst="roundRect">
            <a:avLst>
              <a:gd name="adj" fmla="val 5714"/>
            </a:avLst>
          </a:prstGeom>
          <a:solidFill>
            <a:srgbClr val="3E4159">
              <a:alpha val="6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0" y="384048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content revealed on click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675120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&lt;details&gt;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675120" y="5349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/ collapsible content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67512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&lt;summary&gt;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75120" y="60807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title for &lt;details&gt;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Text-Level &amp; Metadata Tags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meaning inside a sentence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12049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40487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and times in a machine-readable format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3,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169164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53048" y="20116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61" y="212049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58888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&lt;address&gt;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58888" y="240487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53048" y="31546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Main St, Springfield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497934"/>
            <a:ext cx="559613" cy="5596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828800" y="478231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with strong importance (typically bold)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55321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read carefully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78728" y="406908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F7F7FA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53048" y="438912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861" y="4497934"/>
            <a:ext cx="559613" cy="55961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58888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558888" y="478231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needs emphasis (typically italic)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53048" y="55321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important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tags at a glance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50292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E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&lt;header&gt;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section of a page or 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&lt;nav&gt;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links or menus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&lt;main&gt;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page's primary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&lt;section&gt;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related content under a heading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&lt;article&gt;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Self-contained content (blog, news, product card)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&lt;aside&gt;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 or supplementary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&lt;footer&gt;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 information for a page or 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&lt;figure&gt;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charts, diagrams, or code with captions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&lt;figcaption&gt;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 describing a &lt;figure&gt;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&lt;details&gt;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Expandable / collapsible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&lt;summary&gt;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Clickable title for &lt;details&gt;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&lt;time&gt;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and times in a machine-readable 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&lt;address&gt;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&lt;strong&gt;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with strong importance (typically bold)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9E7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&lt;em&gt;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that needs emphasis (typically italic)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1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9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Semantic Elements</dc:title>
  <dc:subject>PptxGenJS Presentation</dc:subject>
  <dc:creator>Claude</dc:creator>
  <cp:lastModifiedBy>Claude</cp:lastModifiedBy>
  <cp:revision>1</cp:revision>
  <dcterms:created xsi:type="dcterms:W3CDTF">2026-07-07T10:56:23Z</dcterms:created>
  <dcterms:modified xsi:type="dcterms:W3CDTF">2026-07-07T10:56:23Z</dcterms:modified>
</cp:coreProperties>
</file>